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oll-agent-training-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oll-agent-training-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0d6e7f7083329cda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9eff5b66489dbae.png"/>
  <Relationship Id="rId3" Type="http://schemas.openxmlformats.org/officeDocument/2006/relationships/image" Target="../media/image_69eff5b66489dbae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d421c5e4e88c3a9.png"/>
  <Relationship Id="rId3" Type="http://schemas.openxmlformats.org/officeDocument/2006/relationships/image" Target="../media/image_dd421c5e4e88c3a9.png"/>
  <Relationship Id="rId4" Type="http://schemas.openxmlformats.org/officeDocument/2006/relationships/image" Target="../media/image_dd421c5e4e88c3a9.png"/>
  <Relationship Id="rId5" Type="http://schemas.openxmlformats.org/officeDocument/2006/relationships/image" Target="../media/image_dd421c5e4e88c3a9.png"/>
  <Relationship Id="rId6" Type="http://schemas.openxmlformats.org/officeDocument/2006/relationships/image" Target="../media/image_dd421c5e4e88c3a9.png"/>
  <Relationship Id="rId7" Type="http://schemas.openxmlformats.org/officeDocument/2006/relationships/image" Target="../media/image_dd421c5e4e88c3a9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1a0a8ee60f44a8b.png"/>
  <Relationship Id="rId3" Type="http://schemas.openxmlformats.org/officeDocument/2006/relationships/image" Target="../media/image_ebb0ba948455aaab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1960" t="0" r="1959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F4B">
                  <a:alpha val="94000"/>
                </a:srgbClr>
              </a:gs>
              <a:gs pos="55000">
                <a:srgbClr val="12295C">
                  <a:alpha val="72000"/>
                </a:srgbClr>
              </a:gs>
              <a:gs pos="100000">
                <a:schemeClr val="accent1">
                  <a:alpha val="3000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1111568"/>
            <a:ext cx="3217374" cy="264033"/>
            <a:chOff x="609600" y="1111568"/>
            <a:chExt cx="3217374" cy="264033"/>
          </a:xfrm>
        </p:grpSpPr>
        <p:sp>
          <p:nvSpPr>
            <p:cNvPr id="4" name="Rectangle 4"/>
            <p:cNvSpPr/>
            <p:nvPr/>
          </p:nvSpPr>
          <p:spPr>
            <a:xfrm>
              <a:off x="609600" y="1143000"/>
              <a:ext cx="3429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9942" y="1111568"/>
              <a:ext cx="27670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电力交易智能体 · 日滚动撮合交易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2836" y="1891665"/>
            <a:ext cx="3399802" cy="887730"/>
            <a:chOff x="592836" y="1891665"/>
            <a:chExt cx="3399802" cy="887730"/>
          </a:xfrm>
        </p:grpSpPr>
        <p:sp>
          <p:nvSpPr>
            <p:cNvPr id="7" name="TextBox 7"/>
            <p:cNvSpPr txBox="1"/>
            <p:nvPr/>
          </p:nvSpPr>
          <p:spPr>
            <a:xfrm>
              <a:off x="592836" y="1891665"/>
              <a:ext cx="33998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以建代训-第四组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980" y="2486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结业汇报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2971800"/>
            <a:ext cx="6858000" cy="1600200"/>
            <a:chOff x="609600" y="2971800"/>
            <a:chExt cx="6858000" cy="1600200"/>
          </a:xfrm>
        </p:grpSpPr>
        <p:sp>
          <p:nvSpPr>
            <p:cNvPr id="10" name="Rectangle 10"/>
            <p:cNvSpPr/>
            <p:nvPr/>
          </p:nvSpPr>
          <p:spPr>
            <a:xfrm>
              <a:off x="609600" y="2971800"/>
              <a:ext cx="6858000" cy="1600200"/>
            </a:xfrm>
            <a:prstGeom prst="roundRect">
              <a:avLst>
                <a:gd name="adj" fmla="val 5952"/>
              </a:avLst>
            </a:prstGeom>
            <a:solidFill>
              <a:schemeClr val="lt1">
                <a:alpha val="10000"/>
              </a:schemeClr>
            </a:solidFill>
            <a:ln w="9525">
              <a:solidFill>
                <a:srgbClr val="FFFFFF">
                  <a:alpha val="22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32204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966" y="3525202"/>
              <a:ext cx="6104763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"只给依据、不给报价"的电力滚撮交易辅助工具：把开市前 35–45 分钟的机械处理，压缩到 ≤10 分钟；</a:t>
              </a:r>
              <a:br/>
              <a:r>
                <a:rPr lang="zh-CN" sz="1050" dirty="0">
                  <a:solidFill>
                    <a:srgbClr val="F1F5F9"/>
                  </a:solidFill>
                  <a:latin typeface="+mn-lt"/>
                  <a:ea typeface="+mn-ea"/>
                  <a:cs typeface="+mn-cs"/>
                </a:rPr>
                <a:t>交易研判过程可追溯，沉淀系统性经验。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4266" y="5087302"/>
            <a:ext cx="6512814" cy="980123"/>
            <a:chOff x="604266" y="5087302"/>
            <a:chExt cx="6512814" cy="980123"/>
          </a:xfrm>
        </p:grpSpPr>
        <p:sp>
          <p:nvSpPr>
            <p:cNvPr id="14" name="TextBox 14"/>
            <p:cNvSpPr txBox="1"/>
            <p:nvPr/>
          </p:nvSpPr>
          <p:spPr>
            <a:xfrm>
              <a:off x="604266" y="50873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汇报人：柴龙涛（京津冀公司）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53921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带教：高航（技术研究院）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5696902"/>
              <a:ext cx="6512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团队成员：何金泽（辽宁售电）、孟建玲（北京售电）、柴龙涛（京津冀新能源）、段冬娟（北方大区）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60579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758478" y="1133475"/>
            <a:ext cx="831542" cy="539686"/>
            <a:chOff x="10758478" y="1133475"/>
            <a:chExt cx="831542" cy="539686"/>
          </a:xfrm>
        </p:grpSpPr>
        <p:sp>
          <p:nvSpPr>
            <p:cNvPr id="19" name="TextBox 19"/>
            <p:cNvSpPr txBox="1"/>
            <p:nvPr/>
          </p:nvSpPr>
          <p:spPr>
            <a:xfrm>
              <a:off x="10758478" y="1133475"/>
              <a:ext cx="831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2026.09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53013" y="1467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第四组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6646" y="581978"/>
            <a:ext cx="2451811" cy="498729"/>
            <a:chOff x="596646" y="581978"/>
            <a:chExt cx="2451811" cy="498729"/>
          </a:xfrm>
        </p:grpSpPr>
        <p:sp>
          <p:nvSpPr>
            <p:cNvPr id="2" name="TextBox 2"/>
            <p:cNvSpPr txBox="1"/>
            <p:nvPr/>
          </p:nvSpPr>
          <p:spPr>
            <a:xfrm>
              <a:off x="596646" y="58197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052066" y="743902"/>
              <a:ext cx="996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3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CONTENTS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09650"/>
              <a:ext cx="4572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609600" y="1428750"/>
            <a:ext cx="3552825" cy="3810000"/>
            <a:chOff x="609600" y="1428750"/>
            <a:chExt cx="3552825" cy="38100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3552825" cy="3810000"/>
            </a:xfrm>
            <a:prstGeom prst="roundRect">
              <a:avLst>
                <a:gd name="adj" fmla="val 2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2584" y="17468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8680" y="22383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一、认识日滚动交易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538" y="251269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为什么做 · 业务认知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76300" y="274320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0966" y="2782252"/>
              <a:ext cx="1289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1.1 日滚动交易时序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1538" y="312229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在交易品种体系中的位置与角色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966" y="3449002"/>
              <a:ext cx="15722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1.2 日滚动交易申报流程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1538" y="36747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每个交易日的五步流水线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966" y="4001452"/>
              <a:ext cx="1148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1.3 电价预测方法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538" y="4227195"/>
              <a:ext cx="10999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火电负荷率找相似日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14825" y="1428750"/>
            <a:ext cx="3552825" cy="3810000"/>
            <a:chOff x="4314825" y="1428750"/>
            <a:chExt cx="3552825" cy="3810000"/>
          </a:xfrm>
        </p:grpSpPr>
        <p:sp>
          <p:nvSpPr>
            <p:cNvPr id="18" name="Rectangle 18"/>
            <p:cNvSpPr/>
            <p:nvPr/>
          </p:nvSpPr>
          <p:spPr>
            <a:xfrm>
              <a:off x="4314825" y="1428750"/>
              <a:ext cx="3552825" cy="3810000"/>
            </a:xfrm>
            <a:prstGeom prst="roundRect">
              <a:avLst>
                <a:gd name="adj" fmla="val 2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67809" y="17468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3905" y="2238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二、建设智能体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76762" y="2512695"/>
              <a:ext cx="996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怎么做 · 建设路径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581525" y="274320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76191" y="2858452"/>
              <a:ext cx="1148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2.1 业务痛点分析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6762" y="3065145"/>
              <a:ext cx="13422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智能体建设背景与必要性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76191" y="3353752"/>
              <a:ext cx="11876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2.2 PRD 场景流程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6762" y="3560445"/>
              <a:ext cx="17299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从“多源搬运”到“可追溯计算链”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6191" y="3849052"/>
              <a:ext cx="9363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2.3 MVP 取舍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6762" y="4055745"/>
              <a:ext cx="15100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只保留验证必需的 UC1–UC9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76191" y="4344352"/>
              <a:ext cx="1289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2.4 智能体功能介绍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76762" y="45510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五大能力全景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20050" y="1428750"/>
            <a:ext cx="3552825" cy="3810000"/>
            <a:chOff x="8020050" y="1428750"/>
            <a:chExt cx="3552825" cy="3810000"/>
          </a:xfrm>
        </p:grpSpPr>
        <p:sp>
          <p:nvSpPr>
            <p:cNvPr id="32" name="Rectangle 32"/>
            <p:cNvSpPr/>
            <p:nvPr/>
          </p:nvSpPr>
          <p:spPr>
            <a:xfrm>
              <a:off x="8020050" y="1428750"/>
              <a:ext cx="3552825" cy="3810000"/>
            </a:xfrm>
            <a:prstGeom prst="roundRect">
              <a:avLst>
                <a:gd name="adj" fmla="val 2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73034" y="1746885"/>
              <a:ext cx="44724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79130" y="2238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三、总结与计划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1988" y="2512695"/>
              <a:ext cx="9969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下一步 · 成果展望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286750" y="274320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81416" y="2896552"/>
              <a:ext cx="1148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3.1 培训经验总结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988" y="3122295"/>
              <a:ext cx="14789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PRD · MVP · 业务开发协同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416" y="3449002"/>
              <a:ext cx="12895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3.2 下一步阶段计划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81988" y="3674745"/>
              <a:ext cx="17420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数据获取 · 交易复盘 · 助手优化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9600" y="5581650"/>
            <a:ext cx="10972800" cy="495300"/>
            <a:chOff x="609600" y="5581650"/>
            <a:chExt cx="10972800" cy="495300"/>
          </a:xfrm>
        </p:grpSpPr>
        <p:sp>
          <p:nvSpPr>
            <p:cNvPr id="42" name="Rectangle 42"/>
            <p:cNvSpPr/>
            <p:nvPr/>
          </p:nvSpPr>
          <p:spPr>
            <a:xfrm>
              <a:off x="609600" y="5581650"/>
              <a:ext cx="10972800" cy="495300"/>
            </a:xfrm>
            <a:prstGeom prst="roundRect">
              <a:avLst>
                <a:gd name="adj" fmla="val 15385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61543" y="5773102"/>
              <a:ext cx="50689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汇报主线：为什么做（业务认知）→ 怎么做（建设路径）→ 下一步（总结与计划）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45" name="Line 4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8932" y="721995"/>
            <a:ext cx="2579082" cy="528828"/>
            <a:chOff x="598932" y="721995"/>
            <a:chExt cx="2579082" cy="528828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认识日滚动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25790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1.1 日滚动交易时序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295400"/>
            <a:ext cx="5410200" cy="1219200"/>
            <a:chOff x="609600" y="1295400"/>
            <a:chExt cx="5410200" cy="1219200"/>
          </a:xfrm>
        </p:grpSpPr>
        <p:sp>
          <p:nvSpPr>
            <p:cNvPr id="5" name="Rectangle 5"/>
            <p:cNvSpPr/>
            <p:nvPr/>
          </p:nvSpPr>
          <p:spPr>
            <a:xfrm>
              <a:off x="609600" y="1295400"/>
              <a:ext cx="5410200" cy="1219200"/>
            </a:xfrm>
            <a:prstGeom prst="roundRect">
              <a:avLst>
                <a:gd name="adj" fmla="val 781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69156" y="1577181"/>
              <a:ext cx="185737" cy="103187"/>
              <a:chOff x="869156" y="1577181"/>
              <a:chExt cx="185737" cy="1031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79475" y="1587500"/>
                <a:ext cx="165099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82550">
                    <a:moveTo>
                      <a:pt x="0" y="82550"/>
                    </a:moveTo>
                    <a:lnTo>
                      <a:pt x="61912" y="10319"/>
                    </a:lnTo>
                    <a:lnTo>
                      <a:pt x="113506" y="61912"/>
                    </a:ln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82662" y="1639093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1068" y="1587500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156" y="165973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34256" y="1577181"/>
                <a:ext cx="20637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20637">
                    <a:moveTo>
                      <a:pt x="0" y="10319"/>
                    </a:moveTo>
                    <a:cubicBezTo>
                      <a:pt x="0" y="16018"/>
                      <a:pt x="4620" y="20637"/>
                      <a:pt x="10319" y="20637"/>
                    </a:cubicBezTo>
                    <a:cubicBezTo>
                      <a:pt x="16018" y="20637"/>
                      <a:pt x="20637" y="16018"/>
                      <a:pt x="20637" y="10319"/>
                    </a:cubicBezTo>
                    <a:cubicBezTo>
                      <a:pt x="20637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94054" y="1565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合约调整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866" y="1905952"/>
              <a:ext cx="44112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年度、月度中长期签约大部分电量进行价格锁定；日滚动作为中长期交易的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最后一环，常用于修正中长期预测偏差，避免偏差考核。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172200" y="1295400"/>
            <a:ext cx="5410200" cy="1219200"/>
            <a:chOff x="6172200" y="1295400"/>
            <a:chExt cx="5410200" cy="1219200"/>
          </a:xfrm>
        </p:grpSpPr>
        <p:sp>
          <p:nvSpPr>
            <p:cNvPr id="15" name="Rectangle 15"/>
            <p:cNvSpPr/>
            <p:nvPr/>
          </p:nvSpPr>
          <p:spPr>
            <a:xfrm>
              <a:off x="6172200" y="1295400"/>
              <a:ext cx="5410200" cy="1219200"/>
            </a:xfrm>
            <a:prstGeom prst="roundRect">
              <a:avLst>
                <a:gd name="adj" fmla="val 7812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6442075" y="1566862"/>
              <a:ext cx="165099" cy="143669"/>
              <a:chOff x="6442075" y="1566862"/>
              <a:chExt cx="165099" cy="14366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6442075" y="1701006"/>
                <a:ext cx="16509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525">
                    <a:moveTo>
                      <a:pt x="0" y="0"/>
                    </a:move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442075" y="15668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92868"/>
                    </a:moveTo>
                    <a:lnTo>
                      <a:pt x="41275" y="30956"/>
                    </a:lnTo>
                    <a:lnTo>
                      <a:pt x="82550" y="51594"/>
                    </a:lnTo>
                    <a:lnTo>
                      <a:pt x="123825" y="0"/>
                    </a:lnTo>
                    <a:lnTo>
                      <a:pt x="165099" y="41275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6756654" y="1565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价差收益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5466" y="1905952"/>
              <a:ext cx="4257866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预判日滚动报价高于现货出清价格→ 在日滚动市场卖出电量；交割时合约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高价锁定，比现货卖出收益更高。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4838" y="2912745"/>
            <a:ext cx="10825162" cy="2430780"/>
            <a:chOff x="604838" y="2912745"/>
            <a:chExt cx="10825162" cy="2430780"/>
          </a:xfrm>
        </p:grpSpPr>
        <p:sp>
          <p:nvSpPr>
            <p:cNvPr id="22" name="TextBox 22"/>
            <p:cNvSpPr txBox="1"/>
            <p:nvPr/>
          </p:nvSpPr>
          <p:spPr>
            <a:xfrm>
              <a:off x="604838" y="2912745"/>
              <a:ext cx="8374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交易品种时序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62000" y="4286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76288" y="3315652"/>
              <a:ext cx="695325" cy="1621155"/>
              <a:chOff x="776288" y="3315652"/>
              <a:chExt cx="695325" cy="162115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35914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年度交易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43553" y="3541395"/>
                <a:ext cx="5607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提前约1年</a:t>
                </a:r>
              </a:p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10572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76288" y="4589145"/>
                <a:ext cx="695325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锁定全年电量</a:t>
                </a:r>
                <a:br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与电价大盘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2528888" y="3315652"/>
              <a:ext cx="695325" cy="1621155"/>
              <a:chOff x="2528888" y="3315652"/>
              <a:chExt cx="695325" cy="1621155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2588514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多月交易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629472" y="35413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提前数月</a:t>
                </a:r>
              </a:p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28098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528888" y="4589145"/>
                <a:ext cx="695325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按季度、多月</a:t>
                </a:r>
                <a:br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分段补充仓量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281488" y="3315652"/>
              <a:ext cx="695325" cy="1621155"/>
              <a:chOff x="4281488" y="3315652"/>
              <a:chExt cx="695325" cy="1621155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4341114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月度交易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348753" y="3541395"/>
                <a:ext cx="5607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提前1个月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45624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281488" y="4589145"/>
                <a:ext cx="695325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月度电量计划</a:t>
                </a:r>
                <a:br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与偏差调整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034088" y="3315652"/>
              <a:ext cx="695325" cy="1621155"/>
              <a:chOff x="6034088" y="3315652"/>
              <a:chExt cx="695325" cy="1621155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093714" y="33156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月内交易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34671" y="354139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月内分批</a:t>
                </a:r>
              </a:p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63150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034088" y="4589145"/>
                <a:ext cx="695325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月内剩余电量</a:t>
                </a:r>
                <a:br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的微调补位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381875" y="3752850"/>
              <a:ext cx="1638300" cy="1066800"/>
              <a:chOff x="7381875" y="3752850"/>
              <a:chExt cx="1638300" cy="10668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7381875" y="3752850"/>
                <a:ext cx="1638300" cy="1066800"/>
              </a:xfrm>
              <a:prstGeom prst="roundRect">
                <a:avLst>
                  <a:gd name="adj" fmla="val 8929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818374" y="3917156"/>
                <a:ext cx="7653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日滚动交易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702544" y="4150995"/>
                <a:ext cx="9969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DD3FC"/>
                    </a:solidFill>
                    <a:latin typeface="+mn-lt"/>
                    <a:ea typeface="+mn-ea"/>
                    <a:cs typeface="+mn-cs"/>
                  </a:rPr>
                  <a:t>日内多轮 · 本品种</a:t>
                </a:r>
              </a:p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8200930" y="4286155"/>
                <a:ext cx="190" cy="190"/>
              </a:xfrm>
              <a:prstGeom prst="ellipse">
                <a:avLst/>
              </a:prstGeom>
              <a:noFill/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32788" y="44176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每日滚动买卖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893368" y="4589145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颗粒度到日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901238" y="3315652"/>
              <a:ext cx="809625" cy="1621155"/>
              <a:chOff x="9901238" y="3315652"/>
              <a:chExt cx="809625" cy="1621155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9977199" y="3315652"/>
                <a:ext cx="65770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日前·现货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998392" y="3541395"/>
                <a:ext cx="61531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日前与实时</a:t>
                </a:r>
              </a:p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10239375" y="4219575"/>
                <a:ext cx="133350" cy="133350"/>
              </a:xfrm>
              <a:prstGeom prst="ellipse">
                <a:avLst/>
              </a:prstGeom>
              <a:solidFill>
                <a:schemeClr val="lt1"/>
              </a:solidFill>
              <a:ln w="19050">
                <a:solidFill>
                  <a:srgbClr val="94A3B8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901238" y="4589145"/>
                <a:ext cx="809625" cy="3476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>
                  <a:lnSpc>
                    <a:spcPts val="1350"/>
                  </a:lnSpc>
                </a:pPr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日前申报、实时</a:t>
                </a:r>
                <a:br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出清交割</a:t>
                </a: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857250" y="5334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70478" y="51144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中长期市场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9144000" y="53340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970567" y="51144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现货市场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61" name="Line 6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8932" y="721995"/>
            <a:ext cx="3427188" cy="528828"/>
            <a:chOff x="598932" y="721995"/>
            <a:chExt cx="3427188" cy="528828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5547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交易申报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34271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1.2 日滚动交易的申报流程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333500"/>
            <a:ext cx="1866900" cy="3619500"/>
            <a:chOff x="609600" y="1333500"/>
            <a:chExt cx="1866900" cy="3619500"/>
          </a:xfrm>
        </p:grpSpPr>
        <p:sp>
          <p:nvSpPr>
            <p:cNvPr id="5" name="Rectangle 5"/>
            <p:cNvSpPr/>
            <p:nvPr/>
          </p:nvSpPr>
          <p:spPr>
            <a:xfrm>
              <a:off x="609600" y="1333500"/>
              <a:ext cx="1866900" cy="3619500"/>
            </a:xfrm>
            <a:prstGeom prst="roundRect">
              <a:avLst>
                <a:gd name="adj" fmla="val 510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885825" y="1643231"/>
              <a:ext cx="190500" cy="199688"/>
              <a:chOff x="885825" y="1643231"/>
              <a:chExt cx="190500" cy="19968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6432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rgbClr val="7DD3FC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85825" y="17549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rgbClr val="7DD3FC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830580" y="2200275"/>
              <a:ext cx="1348740" cy="902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每个交易日，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都要走完同一条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流水线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3438" y="3636645"/>
              <a:ext cx="1381125" cy="747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每天重复一次的高频闭环：</a:t>
              </a:r>
              <a:br/>
              <a:r>
                <a:rPr lang="zh-CN" sz="9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靠人盯盘又慢又容易漏——</a:t>
              </a:r>
              <a:br/>
              <a:r>
                <a:rPr lang="zh-CN" sz="9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这正是要用智能体接管</a:t>
              </a:r>
              <a:br/>
              <a:r>
                <a:rPr lang="zh-CN" sz="9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这条链路的原因。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743200" y="1333500"/>
            <a:ext cx="1562100" cy="2743200"/>
            <a:chOff x="2743200" y="1333500"/>
            <a:chExt cx="1562100" cy="2743200"/>
          </a:xfrm>
        </p:grpSpPr>
        <p:sp>
          <p:nvSpPr>
            <p:cNvPr id="12" name="Rectangle 12"/>
            <p:cNvSpPr/>
            <p:nvPr/>
          </p:nvSpPr>
          <p:spPr>
            <a:xfrm>
              <a:off x="2743200" y="1333500"/>
              <a:ext cx="1562100" cy="2743200"/>
            </a:xfrm>
            <a:prstGeom prst="roundRect">
              <a:avLst>
                <a:gd name="adj" fmla="val 60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867025" y="14954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63751" y="157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2404" y="1556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数据准备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0838" y="1922145"/>
              <a:ext cx="11525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归集火电开机、负荷、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新能源出力等边界数据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895600" y="2495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890838" y="2646045"/>
              <a:ext cx="8096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没有数据，一切</a:t>
              </a:r>
              <a:br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判断都是空谈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62475" y="1333500"/>
            <a:ext cx="1562100" cy="2743200"/>
            <a:chOff x="4562475" y="1333500"/>
            <a:chExt cx="1562100" cy="2743200"/>
          </a:xfrm>
        </p:grpSpPr>
        <p:sp>
          <p:nvSpPr>
            <p:cNvPr id="20" name="Rectangle 20"/>
            <p:cNvSpPr/>
            <p:nvPr/>
          </p:nvSpPr>
          <p:spPr>
            <a:xfrm>
              <a:off x="4562475" y="1333500"/>
              <a:ext cx="1562100" cy="2743200"/>
            </a:xfrm>
            <a:prstGeom prst="roundRect">
              <a:avLst>
                <a:gd name="adj" fmla="val 60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686300" y="14954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83026" y="157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51679" y="1556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电价预测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10112" y="1922145"/>
              <a:ext cx="6953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预测日内分时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电价走势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714875" y="2495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10112" y="2646045"/>
              <a:ext cx="82105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报价的"眼睛"，</a:t>
              </a:r>
              <a:br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决定怎么出牌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381750" y="1333500"/>
            <a:ext cx="1562100" cy="2743200"/>
            <a:chOff x="6381750" y="1333500"/>
            <a:chExt cx="1562100" cy="2743200"/>
          </a:xfrm>
        </p:grpSpPr>
        <p:sp>
          <p:nvSpPr>
            <p:cNvPr id="28" name="Rectangle 28"/>
            <p:cNvSpPr/>
            <p:nvPr/>
          </p:nvSpPr>
          <p:spPr>
            <a:xfrm>
              <a:off x="6381750" y="1333500"/>
              <a:ext cx="1562100" cy="2743200"/>
            </a:xfrm>
            <a:prstGeom prst="roundRect">
              <a:avLst>
                <a:gd name="adj" fmla="val 60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05575" y="14954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2301" y="157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0954" y="1556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报价决策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29388" y="1922145"/>
              <a:ext cx="9239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按预测价差生成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买卖策略与报价单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534150" y="2495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9388" y="2646045"/>
              <a:ext cx="8096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把判断变成具体</a:t>
              </a:r>
              <a:br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交易动作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201025" y="1333500"/>
            <a:ext cx="1562100" cy="2743200"/>
            <a:chOff x="8201025" y="1333500"/>
            <a:chExt cx="1562100" cy="2743200"/>
          </a:xfrm>
        </p:grpSpPr>
        <p:sp>
          <p:nvSpPr>
            <p:cNvPr id="36" name="Rectangle 36"/>
            <p:cNvSpPr/>
            <p:nvPr/>
          </p:nvSpPr>
          <p:spPr>
            <a:xfrm>
              <a:off x="8201025" y="1333500"/>
              <a:ext cx="1562100" cy="2743200"/>
            </a:xfrm>
            <a:prstGeom prst="roundRect">
              <a:avLst>
                <a:gd name="adj" fmla="val 60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324850" y="14954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1576" y="157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90229" y="1556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申报出清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48662" y="1922145"/>
              <a:ext cx="10382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在交易窗口内申报，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等待市场出清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53425" y="2495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348662" y="2646045"/>
              <a:ext cx="6953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错过时间窗口</a:t>
              </a:r>
              <a:br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即失效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20300" y="1333500"/>
            <a:ext cx="1562100" cy="2743200"/>
            <a:chOff x="10020300" y="1333500"/>
            <a:chExt cx="1562100" cy="2743200"/>
          </a:xfrm>
        </p:grpSpPr>
        <p:sp>
          <p:nvSpPr>
            <p:cNvPr id="44" name="Rectangle 44"/>
            <p:cNvSpPr/>
            <p:nvPr/>
          </p:nvSpPr>
          <p:spPr>
            <a:xfrm>
              <a:off x="10020300" y="1333500"/>
              <a:ext cx="1562100" cy="2743200"/>
            </a:xfrm>
            <a:prstGeom prst="roundRect">
              <a:avLst>
                <a:gd name="adj" fmla="val 60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0144125" y="14954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40851" y="15725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09504" y="1556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复盘修正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167938" y="1922145"/>
              <a:ext cx="9239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对比预测与实际，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修正次日策略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10172700" y="2495550"/>
              <a:ext cx="1257300" cy="9525"/>
            </a:xfrm>
            <a:custGeom>
              <a:avLst/>
              <a:gdLst/>
              <a:ahLst/>
              <a:cxnLst/>
              <a:rect l="l" t="t" r="r" b="b"/>
              <a:pathLst>
                <a:path w="1257300" h="9525">
                  <a:moveTo>
                    <a:pt x="0" y="0"/>
                  </a:moveTo>
                  <a:lnTo>
                    <a:pt x="1257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167938" y="2646045"/>
              <a:ext cx="58102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每天迭代，</a:t>
              </a:r>
              <a:br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越滚越准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372289" y="2635568"/>
            <a:ext cx="113671" cy="264033"/>
            <a:chOff x="4372289" y="2635568"/>
            <a:chExt cx="113671" cy="264033"/>
          </a:xfrm>
        </p:grpSpPr>
        <p:sp>
          <p:nvSpPr>
            <p:cNvPr id="52" name="TextBox 52"/>
            <p:cNvSpPr txBox="1"/>
            <p:nvPr/>
          </p:nvSpPr>
          <p:spPr>
            <a:xfrm>
              <a:off x="4372289" y="2635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191564" y="2635568"/>
            <a:ext cx="113671" cy="264033"/>
            <a:chOff x="6191564" y="2635568"/>
            <a:chExt cx="113671" cy="264033"/>
          </a:xfrm>
        </p:grpSpPr>
        <p:sp>
          <p:nvSpPr>
            <p:cNvPr id="54" name="TextBox 54"/>
            <p:cNvSpPr txBox="1"/>
            <p:nvPr/>
          </p:nvSpPr>
          <p:spPr>
            <a:xfrm>
              <a:off x="6191564" y="2635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10839" y="2635568"/>
            <a:ext cx="113671" cy="264033"/>
            <a:chOff x="8010839" y="2635568"/>
            <a:chExt cx="113671" cy="264033"/>
          </a:xfrm>
        </p:grpSpPr>
        <p:sp>
          <p:nvSpPr>
            <p:cNvPr id="56" name="TextBox 56"/>
            <p:cNvSpPr txBox="1"/>
            <p:nvPr/>
          </p:nvSpPr>
          <p:spPr>
            <a:xfrm>
              <a:off x="8010839" y="2635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30114" y="2635568"/>
            <a:ext cx="113671" cy="264033"/>
            <a:chOff x="9830114" y="2635568"/>
            <a:chExt cx="113671" cy="264033"/>
          </a:xfrm>
        </p:grpSpPr>
        <p:sp>
          <p:nvSpPr>
            <p:cNvPr id="58" name="TextBox 58"/>
            <p:cNvSpPr txBox="1"/>
            <p:nvPr/>
          </p:nvSpPr>
          <p:spPr>
            <a:xfrm>
              <a:off x="9830114" y="2635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2743200" y="4267200"/>
            <a:ext cx="8839200" cy="571500"/>
            <a:chOff x="2743200" y="4267200"/>
            <a:chExt cx="8839200" cy="571500"/>
          </a:xfrm>
        </p:grpSpPr>
        <p:sp>
          <p:nvSpPr>
            <p:cNvPr id="60" name="Rectangle 60"/>
            <p:cNvSpPr/>
            <p:nvPr/>
          </p:nvSpPr>
          <p:spPr>
            <a:xfrm>
              <a:off x="2743200" y="4267200"/>
              <a:ext cx="8839200" cy="571500"/>
            </a:xfrm>
            <a:prstGeom prst="roundRect">
              <a:avLst>
                <a:gd name="adj" fmla="val 16667"/>
              </a:avLst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754499" y="4496752"/>
              <a:ext cx="48166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日滚动交易按固定节奏推进，五个环节环环相扣、缺一不可，每天都在重复。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743200" y="4991100"/>
            <a:ext cx="8839200" cy="800100"/>
            <a:chOff x="2743200" y="4991100"/>
            <a:chExt cx="8839200" cy="800100"/>
          </a:xfrm>
        </p:grpSpPr>
        <p:sp>
          <p:nvSpPr>
            <p:cNvPr id="63" name="Rectangle 63"/>
            <p:cNvSpPr/>
            <p:nvPr/>
          </p:nvSpPr>
          <p:spPr>
            <a:xfrm>
              <a:off x="2743200" y="4991100"/>
              <a:ext cx="8839200" cy="800100"/>
            </a:xfrm>
            <a:prstGeom prst="roundRect">
              <a:avLst>
                <a:gd name="adj" fmla="val 11905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3073400" y="5264150"/>
              <a:ext cx="177800" cy="241300"/>
              <a:chOff x="3073400" y="526415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086100" y="528955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3162300" y="526415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3124200" y="53911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3200400" y="53911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3073400" y="54165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3200400" y="541655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3124200" y="546734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3136900" y="5340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3187700" y="5340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3499104" y="51663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日滚动交易辅助决策智能体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499866" y="54492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看懂这条链，就看懂了智能体要接管什么。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77" name="Line 7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21995"/>
            <a:ext cx="10988802" cy="528828"/>
            <a:chOff x="598932" y="721995"/>
            <a:chExt cx="10988802" cy="528828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认识日滚动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31444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1.3 电价预测的核心过程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425055" y="95345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预测方法 · 可解释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1295400"/>
            <a:ext cx="3552825" cy="1409700"/>
            <a:chOff x="609600" y="1295400"/>
            <a:chExt cx="3552825" cy="1409700"/>
          </a:xfrm>
        </p:grpSpPr>
        <p:sp>
          <p:nvSpPr>
            <p:cNvPr id="6" name="Rectangle 6"/>
            <p:cNvSpPr/>
            <p:nvPr/>
          </p:nvSpPr>
          <p:spPr>
            <a:xfrm>
              <a:off x="609600" y="1295400"/>
              <a:ext cx="3552825" cy="1409700"/>
            </a:xfrm>
            <a:prstGeom prst="roundRect">
              <a:avLst>
                <a:gd name="adj" fmla="val 67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3438" y="15030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342" y="1740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算负荷率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3247" y="2085499"/>
              <a:ext cx="12545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逐日计算火电负荷率，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形成历史曲线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43250" y="1676400"/>
              <a:ext cx="838200" cy="5715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4314825" y="1295400"/>
            <a:ext cx="3552825" cy="1409700"/>
            <a:chOff x="4314825" y="1295400"/>
            <a:chExt cx="3552825" cy="1409700"/>
          </a:xfrm>
        </p:grpSpPr>
        <p:sp>
          <p:nvSpPr>
            <p:cNvPr id="12" name="Rectangle 12"/>
            <p:cNvSpPr/>
            <p:nvPr/>
          </p:nvSpPr>
          <p:spPr>
            <a:xfrm>
              <a:off x="4314825" y="1295400"/>
              <a:ext cx="3552825" cy="1409700"/>
            </a:xfrm>
            <a:prstGeom prst="roundRect">
              <a:avLst>
                <a:gd name="adj" fmla="val 67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8662" y="15030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36567" y="1740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找相似日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38472" y="2085499"/>
              <a:ext cx="12545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在历史中找出与目标日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负荷率最接近的日子</a:t>
              </a:r>
            </a:p>
          </p:txBody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8475" y="1676400"/>
              <a:ext cx="838200" cy="571500"/>
            </a:xfrm>
            <a:prstGeom prst="rect">
              <a:avLst/>
            </a:prstGeom>
          </p:spPr>
        </p:pic>
      </p:grpSp>
      <p:grpSp>
        <p:nvGrpSpPr>
          <p:cNvPr id="22" name="Group 22"/>
          <p:cNvGrpSpPr/>
          <p:nvPr/>
        </p:nvGrpSpPr>
        <p:grpSpPr>
          <a:xfrm>
            <a:off x="8020050" y="1295400"/>
            <a:ext cx="3552825" cy="1409700"/>
            <a:chOff x="8020050" y="1295400"/>
            <a:chExt cx="3552825" cy="1409700"/>
          </a:xfrm>
        </p:grpSpPr>
        <p:sp>
          <p:nvSpPr>
            <p:cNvPr id="18" name="Rectangle 18"/>
            <p:cNvSpPr/>
            <p:nvPr/>
          </p:nvSpPr>
          <p:spPr>
            <a:xfrm>
              <a:off x="8020050" y="1295400"/>
              <a:ext cx="3552825" cy="1409700"/>
            </a:xfrm>
            <a:prstGeom prst="roundRect">
              <a:avLst>
                <a:gd name="adj" fmla="val 67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43888" y="150304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41792" y="1740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电价预测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43697" y="2085499"/>
              <a:ext cx="16278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以相似日的真实电价为基准，</a:t>
              </a:r>
              <a:br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输出目标日预测价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9600" y="2857500"/>
            <a:ext cx="8572500" cy="533400"/>
            <a:chOff x="609600" y="2857500"/>
            <a:chExt cx="8572500" cy="533400"/>
          </a:xfrm>
        </p:grpSpPr>
        <p:sp>
          <p:nvSpPr>
            <p:cNvPr id="23" name="Rectangle 23"/>
            <p:cNvSpPr/>
            <p:nvPr/>
          </p:nvSpPr>
          <p:spPr>
            <a:xfrm>
              <a:off x="609600" y="2857500"/>
              <a:ext cx="8572500" cy="533400"/>
            </a:xfrm>
            <a:prstGeom prst="roundRect">
              <a:avLst>
                <a:gd name="adj" fmla="val 17857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56411" y="3068002"/>
              <a:ext cx="62788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火电负荷率 = （系统负荷 − 新能源出力 − 核电 − 水电 − 非市场化 − 地方燃煤 − 联络线）÷ 火电开机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30811" y="3084195"/>
            <a:ext cx="2055278" cy="176212"/>
            <a:chOff x="9430811" y="3084195"/>
            <a:chExt cx="2055278" cy="176212"/>
          </a:xfrm>
        </p:grpSpPr>
        <p:sp>
          <p:nvSpPr>
            <p:cNvPr id="26" name="TextBox 26"/>
            <p:cNvSpPr txBox="1"/>
            <p:nvPr/>
          </p:nvSpPr>
          <p:spPr>
            <a:xfrm>
              <a:off x="9430811" y="3084195"/>
              <a:ext cx="20552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共计 11 项边界处理 · 3 次相似日查询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" y="3619500"/>
            <a:ext cx="5410200" cy="2400300"/>
            <a:chOff x="609600" y="3619500"/>
            <a:chExt cx="5410200" cy="2400300"/>
          </a:xfrm>
        </p:grpSpPr>
        <p:sp>
          <p:nvSpPr>
            <p:cNvPr id="28" name="Rectangle 28"/>
            <p:cNvSpPr/>
            <p:nvPr/>
          </p:nvSpPr>
          <p:spPr>
            <a:xfrm>
              <a:off x="609600" y="3619500"/>
              <a:ext cx="5410200" cy="2400300"/>
            </a:xfrm>
            <a:prstGeom prst="roundRect">
              <a:avLst>
                <a:gd name="adj" fmla="val 396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09638" y="3881438"/>
              <a:ext cx="200026" cy="200025"/>
              <a:chOff x="909638" y="388143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909638" y="38814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49376" y="39258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84092" y="40370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70254" y="3928110"/>
              <a:ext cx="2808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什么是火电负荷率？——供需的"体温计"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76300" y="42672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966" y="4458652"/>
              <a:ext cx="4011168" cy="75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负荷率越高，火电开得越满、供需越紧，电价往往越高；负荷率低，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供需宽松，电价回落。</a:t>
              </a:r>
            </a:p>
            <a:p>
              <a:pPr algn="l">
                <a:lnSpc>
                  <a:spcPts val="1800"/>
                </a:lnSpc>
                <a:spcBef>
                  <a:spcPts val="750"/>
                </a:spcBef>
              </a:pP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一个指标，给每天的"供需松紧"量体温。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2200" y="3619500"/>
            <a:ext cx="5410200" cy="2400300"/>
            <a:chOff x="6172200" y="3619500"/>
            <a:chExt cx="5410200" cy="2400300"/>
          </a:xfrm>
        </p:grpSpPr>
        <p:sp>
          <p:nvSpPr>
            <p:cNvPr id="37" name="Rectangle 37"/>
            <p:cNvSpPr/>
            <p:nvPr/>
          </p:nvSpPr>
          <p:spPr>
            <a:xfrm>
              <a:off x="6172200" y="3619500"/>
              <a:ext cx="5410200" cy="2400300"/>
            </a:xfrm>
            <a:prstGeom prst="roundRect">
              <a:avLst>
                <a:gd name="adj" fmla="val 3968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94463" y="3892550"/>
              <a:ext cx="166687" cy="188913"/>
              <a:chOff x="6494463" y="3892550"/>
              <a:chExt cx="166687" cy="18891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494463" y="3892550"/>
                <a:ext cx="13335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7801">
                    <a:moveTo>
                      <a:pt x="51284" y="177801"/>
                    </a:move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94475" y="40370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38913" y="3937000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38913" y="39814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832854" y="39281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为什么这套方法可信？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438900" y="42672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33566" y="4458652"/>
              <a:ext cx="3091053" cy="75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供需决定价格，相似的日子，电价也相似。</a:t>
              </a:r>
            </a:p>
            <a:p>
              <a:pPr algn="l">
                <a:lnSpc>
                  <a:spcPts val="1800"/>
                </a:lnSpc>
                <a:spcBef>
                  <a:spcPts val="750"/>
                </a:spcBef>
              </a:pP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方法朴素、可解释、可落地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——智能体每天自动算完，交易员看结果作策略参考。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47" name="Line 4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05802"/>
            <a:ext cx="10988802" cy="545021"/>
            <a:chOff x="598932" y="705802"/>
            <a:chExt cx="10988802" cy="545021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建设智能体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51234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2.1 智能体建设背景与必要性：业务痛点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566406" y="70580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现状 · 滚动交易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276350"/>
            <a:ext cx="10972800" cy="628650"/>
            <a:chOff x="609600" y="1276350"/>
            <a:chExt cx="10972800" cy="628650"/>
          </a:xfrm>
        </p:grpSpPr>
        <p:sp>
          <p:nvSpPr>
            <p:cNvPr id="6" name="Rectangle 6"/>
            <p:cNvSpPr/>
            <p:nvPr/>
          </p:nvSpPr>
          <p:spPr>
            <a:xfrm>
              <a:off x="609600" y="1276350"/>
              <a:ext cx="10972800" cy="628650"/>
            </a:xfrm>
            <a:prstGeom prst="roundRect">
              <a:avLst>
                <a:gd name="adj" fmla="val 1515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558281" y="1345882"/>
              <a:ext cx="8458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3.5小时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2964" y="16554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滚撮决策窗口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352800" y="14097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73205" y="1345882"/>
              <a:ext cx="1102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50-80分钟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01687" y="1655445"/>
              <a:ext cx="10454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每日准备+决策耗时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0" y="14097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266804" y="1345882"/>
              <a:ext cx="4015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10+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99364" y="165544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每日决策点位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839200" y="140970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27218" y="1345882"/>
              <a:ext cx="367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81984" y="16554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信息源来回切换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057400"/>
            <a:ext cx="3552825" cy="1428750"/>
            <a:chOff x="609600" y="2057400"/>
            <a:chExt cx="3552825" cy="1428750"/>
          </a:xfrm>
        </p:grpSpPr>
        <p:sp>
          <p:nvSpPr>
            <p:cNvPr id="19" name="Rectangle 19"/>
            <p:cNvSpPr/>
            <p:nvPr/>
          </p:nvSpPr>
          <p:spPr>
            <a:xfrm>
              <a:off x="609600" y="205740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2866" y="2286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8804" y="2270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边界收集耗时长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3247" y="2637949"/>
              <a:ext cx="1858137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 个信息源逐个打开、复制粘贴，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15-20 分钟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14825" y="2057400"/>
            <a:ext cx="3552825" cy="1428750"/>
            <a:chOff x="4314825" y="2057400"/>
            <a:chExt cx="3552825" cy="1428750"/>
          </a:xfrm>
        </p:grpSpPr>
        <p:sp>
          <p:nvSpPr>
            <p:cNvPr id="24" name="Rectangle 24"/>
            <p:cNvSpPr/>
            <p:nvPr/>
          </p:nvSpPr>
          <p:spPr>
            <a:xfrm>
              <a:off x="4314825" y="205740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38091" y="2286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029" y="2270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披露边界有限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38472" y="2637949"/>
              <a:ext cx="22501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联络线、预测开机、分布式光伏、风电等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不披露，需自行预测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020050" y="2057400"/>
            <a:ext cx="3552825" cy="1428750"/>
            <a:chOff x="8020050" y="2057400"/>
            <a:chExt cx="3552825" cy="1428750"/>
          </a:xfrm>
        </p:grpSpPr>
        <p:sp>
          <p:nvSpPr>
            <p:cNvPr id="29" name="Rectangle 29"/>
            <p:cNvSpPr/>
            <p:nvPr/>
          </p:nvSpPr>
          <p:spPr>
            <a:xfrm>
              <a:off x="8020050" y="205740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43316" y="2286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09254" y="2270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人工测算耗时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43697" y="2637949"/>
              <a:ext cx="2225294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测算联络线、负荷率、价格预测，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20-25 分钟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638550"/>
            <a:ext cx="3552825" cy="1428750"/>
            <a:chOff x="609600" y="3638550"/>
            <a:chExt cx="3552825" cy="1428750"/>
          </a:xfrm>
        </p:grpSpPr>
        <p:sp>
          <p:nvSpPr>
            <p:cNvPr id="34" name="Rectangle 34"/>
            <p:cNvSpPr/>
            <p:nvPr/>
          </p:nvSpPr>
          <p:spPr>
            <a:xfrm>
              <a:off x="609600" y="363855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866" y="38681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8804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决策窗口紧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247" y="4219099"/>
              <a:ext cx="1590548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每日在约 10 个点位上决策，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频次高、容错低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314825" y="3638550"/>
            <a:ext cx="3552825" cy="1428750"/>
            <a:chOff x="4314825" y="3638550"/>
            <a:chExt cx="3552825" cy="1428750"/>
          </a:xfrm>
        </p:grpSpPr>
        <p:sp>
          <p:nvSpPr>
            <p:cNvPr id="39" name="Rectangle 39"/>
            <p:cNvSpPr/>
            <p:nvPr/>
          </p:nvSpPr>
          <p:spPr>
            <a:xfrm>
              <a:off x="4314825" y="363855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538091" y="38681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04029" y="3851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复盘要求高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38472" y="4219099"/>
              <a:ext cx="162788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经验在交易员脑中、难沉淀，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且部分经验有时效性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20050" y="3638550"/>
            <a:ext cx="3552825" cy="1428750"/>
            <a:chOff x="8020050" y="3638550"/>
            <a:chExt cx="3552825" cy="1428750"/>
          </a:xfrm>
        </p:grpSpPr>
        <p:sp>
          <p:nvSpPr>
            <p:cNvPr id="44" name="Rectangle 44"/>
            <p:cNvSpPr/>
            <p:nvPr/>
          </p:nvSpPr>
          <p:spPr>
            <a:xfrm>
              <a:off x="8020050" y="3638550"/>
              <a:ext cx="3552825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43316" y="38681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09254" y="38519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现有系统错位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3888" y="4170045"/>
              <a:ext cx="22955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当前使用的辅助决策系统更适配月竞及以上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周期的中长期交易或现货交易，对于滚撮交易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存在一定的需求错位问题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5238750"/>
            <a:ext cx="10972800" cy="571500"/>
            <a:chOff x="609600" y="5238750"/>
            <a:chExt cx="10972800" cy="571500"/>
          </a:xfrm>
        </p:grpSpPr>
        <p:sp>
          <p:nvSpPr>
            <p:cNvPr id="49" name="Rectangle 49"/>
            <p:cNvSpPr/>
            <p:nvPr/>
          </p:nvSpPr>
          <p:spPr>
            <a:xfrm>
              <a:off x="609600" y="5238750"/>
              <a:ext cx="10972800" cy="57150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97579" y="5420796"/>
              <a:ext cx="224134" cy="192560"/>
              <a:chOff x="897579" y="5420796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09650" y="54911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7579" y="54207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09650" y="55689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290066" y="5468302"/>
              <a:ext cx="51134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交易员把时间花在"把边界拼成依据"，真正的价差判断被挤压，且过程不可复现。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56" name="Line 5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05802"/>
            <a:ext cx="10988802" cy="545021"/>
            <a:chOff x="598932" y="705802"/>
            <a:chExt cx="10988802" cy="545021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建设智能体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547860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2.2 PRD：从"多源搬运"到"可追溯计算链"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11662" y="705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场景流程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4266" y="1372552"/>
            <a:ext cx="4927563" cy="205359"/>
            <a:chOff x="604266" y="1372552"/>
            <a:chExt cx="4927563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1372552"/>
              <a:ext cx="4927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现状：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人工串联 15 步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；目标：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一条链跑完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，交易员只在关键节点判断和修订。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9600" y="1752600"/>
            <a:ext cx="3552825" cy="1238250"/>
            <a:chOff x="609600" y="1752600"/>
            <a:chExt cx="3552825" cy="1238250"/>
          </a:xfrm>
        </p:grpSpPr>
        <p:sp>
          <p:nvSpPr>
            <p:cNvPr id="8" name="Rectangle 8"/>
            <p:cNvSpPr/>
            <p:nvPr/>
          </p:nvSpPr>
          <p:spPr>
            <a:xfrm>
              <a:off x="609600" y="175260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1962150"/>
              <a:ext cx="400050" cy="333375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404366" y="19821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0304" y="1965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边界收集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3247" y="23902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多源边界数据归集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14825" y="1752600"/>
            <a:ext cx="3552825" cy="1238250"/>
            <a:chOff x="4314825" y="1752600"/>
            <a:chExt cx="3552825" cy="1238250"/>
          </a:xfrm>
        </p:grpSpPr>
        <p:sp>
          <p:nvSpPr>
            <p:cNvPr id="14" name="Rectangle 14"/>
            <p:cNvSpPr/>
            <p:nvPr/>
          </p:nvSpPr>
          <p:spPr>
            <a:xfrm>
              <a:off x="4314825" y="175260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3425" y="1962150"/>
              <a:ext cx="400050" cy="333375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5109591" y="19821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75529" y="1965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未知边界推断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38472" y="239029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不披露项自行预测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20050" y="1752600"/>
            <a:ext cx="3552825" cy="1238250"/>
            <a:chOff x="8020050" y="1752600"/>
            <a:chExt cx="3552825" cy="1238250"/>
          </a:xfrm>
        </p:grpSpPr>
        <p:sp>
          <p:nvSpPr>
            <p:cNvPr id="20" name="Rectangle 20"/>
            <p:cNvSpPr/>
            <p:nvPr/>
          </p:nvSpPr>
          <p:spPr>
            <a:xfrm>
              <a:off x="8020050" y="175260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48650" y="1962150"/>
              <a:ext cx="400050" cy="333375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814816" y="19821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0754" y="1965960"/>
              <a:ext cx="1074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联络线·负荷率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43697" y="23902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系统边界解算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3143250"/>
            <a:ext cx="3552825" cy="1238250"/>
            <a:chOff x="609600" y="3143250"/>
            <a:chExt cx="3552825" cy="1238250"/>
          </a:xfrm>
        </p:grpSpPr>
        <p:sp>
          <p:nvSpPr>
            <p:cNvPr id="26" name="Rectangle 26"/>
            <p:cNvSpPr/>
            <p:nvPr/>
          </p:nvSpPr>
          <p:spPr>
            <a:xfrm>
              <a:off x="609600" y="314325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8200" y="3352800"/>
              <a:ext cx="400050" cy="333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1404366" y="3372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70304" y="33566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价格及概率预测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247" y="3780949"/>
              <a:ext cx="1283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24时段曲线+区间概率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14825" y="3143250"/>
            <a:ext cx="3552825" cy="1238250"/>
            <a:chOff x="4314825" y="3143250"/>
            <a:chExt cx="3552825" cy="1238250"/>
          </a:xfrm>
        </p:grpSpPr>
        <p:sp>
          <p:nvSpPr>
            <p:cNvPr id="32" name="Rectangle 32"/>
            <p:cNvSpPr/>
            <p:nvPr/>
          </p:nvSpPr>
          <p:spPr>
            <a:xfrm>
              <a:off x="4314825" y="314325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43425" y="3352800"/>
              <a:ext cx="400050" cy="333375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5109591" y="3372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75529" y="33566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依据输出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472" y="37809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全链条逻辑可追溯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20050" y="3143250"/>
            <a:ext cx="3552825" cy="1238250"/>
            <a:chOff x="8020050" y="3143250"/>
            <a:chExt cx="3552825" cy="1238250"/>
          </a:xfrm>
        </p:grpSpPr>
        <p:sp>
          <p:nvSpPr>
            <p:cNvPr id="38" name="Rectangle 38"/>
            <p:cNvSpPr/>
            <p:nvPr/>
          </p:nvSpPr>
          <p:spPr>
            <a:xfrm>
              <a:off x="8020050" y="3143250"/>
              <a:ext cx="3552825" cy="1238250"/>
            </a:xfrm>
            <a:prstGeom prst="roundRect">
              <a:avLst>
                <a:gd name="adj" fmla="val 7692"/>
              </a:avLst>
            </a:prstGeom>
            <a:solidFill>
              <a:schemeClr val="accent1"/>
            </a:solidFill>
            <a:ln>
              <a:noFill/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248650" y="3352800"/>
              <a:ext cx="400050" cy="333375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8814816" y="33728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0754" y="33566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复盘与统计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43697" y="37809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结果留痕、每日复盘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4552950"/>
            <a:ext cx="6400800" cy="1257300"/>
            <a:chOff x="609600" y="4552950"/>
            <a:chExt cx="6400800" cy="1257300"/>
          </a:xfrm>
        </p:grpSpPr>
        <p:sp>
          <p:nvSpPr>
            <p:cNvPr id="44" name="Rectangle 44"/>
            <p:cNvSpPr/>
            <p:nvPr/>
          </p:nvSpPr>
          <p:spPr>
            <a:xfrm>
              <a:off x="609600" y="4552950"/>
              <a:ext cx="6400800" cy="1257300"/>
            </a:xfrm>
            <a:prstGeom prst="roundRect">
              <a:avLst>
                <a:gd name="adj" fmla="val 757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90588" y="4795838"/>
              <a:ext cx="200026" cy="200025"/>
              <a:chOff x="890588" y="4795838"/>
              <a:chExt cx="200026" cy="20002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912813" y="4795838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90588" y="4929188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35051" y="4797282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57276" y="4930855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2" y="22609"/>
                      <a:pt x="19534" y="5043"/>
                      <a:pt x="0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251204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人机分工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1916" y="518255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：取数、标准化、推断、计算、留痕、统计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916" y="544925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交易员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：修改预期、确认依据、拟定量价、研判复盘报告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162800" y="4552950"/>
            <a:ext cx="4419600" cy="1257300"/>
            <a:chOff x="7162800" y="4552950"/>
            <a:chExt cx="4419600" cy="1257300"/>
          </a:xfrm>
        </p:grpSpPr>
        <p:sp>
          <p:nvSpPr>
            <p:cNvPr id="54" name="Rectangle 54"/>
            <p:cNvSpPr/>
            <p:nvPr/>
          </p:nvSpPr>
          <p:spPr>
            <a:xfrm>
              <a:off x="7162800" y="4552950"/>
              <a:ext cx="4419600" cy="1257300"/>
            </a:xfrm>
            <a:prstGeom prst="roundRect">
              <a:avLst>
                <a:gd name="adj" fmla="val 7576"/>
              </a:avLst>
            </a:prstGeom>
            <a:solidFill>
              <a:schemeClr val="accent3">
                <a:alpha val="10000"/>
              </a:scheme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423404" y="4785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红线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424166" y="5144452"/>
              <a:ext cx="2677668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策略助手做边界展示与策略建议，不直接参与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申报——决策权始终在交易员手中。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58" name="Line 58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9694" y="705802"/>
            <a:ext cx="10988040" cy="531877"/>
            <a:chOff x="599694" y="705802"/>
            <a:chExt cx="10988040" cy="531877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建设智能体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9694" y="856298"/>
              <a:ext cx="58351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2.3 MVP 取舍：只保留验证路线必需的 UC1–UC9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28960" y="705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最小可行验证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1295400"/>
            <a:ext cx="2743200" cy="4305300"/>
            <a:chOff x="609600" y="1295400"/>
            <a:chExt cx="2743200" cy="4305300"/>
          </a:xfrm>
        </p:grpSpPr>
        <p:sp>
          <p:nvSpPr>
            <p:cNvPr id="6" name="Rectangle 6"/>
            <p:cNvSpPr/>
            <p:nvPr/>
          </p:nvSpPr>
          <p:spPr>
            <a:xfrm>
              <a:off x="609600" y="1295400"/>
              <a:ext cx="2743200" cy="4305300"/>
            </a:xfrm>
            <a:prstGeom prst="roundRect">
              <a:avLst>
                <a:gd name="adj" fmla="val 347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73919" y="1578769"/>
              <a:ext cx="214312" cy="214312"/>
              <a:chOff x="873919" y="1578769"/>
              <a:chExt cx="214312" cy="21431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69169" y="16740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rgbClr val="7DD3FC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21544" y="16263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23812">
                <a:solidFill>
                  <a:srgbClr val="7DD3FC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73919" y="15787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rgbClr val="7DD3FC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32104" y="2080260"/>
              <a:ext cx="1078992" cy="729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完整场景很长，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但技术验证只需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证明三件事：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866" y="3029902"/>
              <a:ext cx="924116" cy="776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225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数据能进来</a:t>
              </a:r>
            </a:p>
            <a:p>
              <a:pPr algn="l" marL="113348" indent="-113348">
                <a:lnSpc>
                  <a:spcPts val="225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计算链能闭环</a:t>
              </a:r>
            </a:p>
            <a:p>
              <a:pPr algn="l" marL="113348" indent="-113348">
                <a:lnSpc>
                  <a:spcPts val="225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结果能解释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38200" y="43053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2866" y="4553902"/>
              <a:ext cx="1077468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核心：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全交易流程计算链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正确性验证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505200" y="1295400"/>
            <a:ext cx="4038600" cy="1333500"/>
            <a:chOff x="3505200" y="1295400"/>
            <a:chExt cx="40386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3505200" y="1295400"/>
              <a:ext cx="40386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28466" y="1524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4404" y="1508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边界数据收集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67500" y="1466850"/>
              <a:ext cx="704850" cy="2286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39192" y="15301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数据输入层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28847" y="18568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从本地获取基础边界信息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96200" y="1295400"/>
            <a:ext cx="3886200" cy="1333500"/>
            <a:chOff x="7696200" y="1295400"/>
            <a:chExt cx="3886200" cy="1333500"/>
          </a:xfrm>
        </p:grpSpPr>
        <p:sp>
          <p:nvSpPr>
            <p:cNvPr id="23" name="Rectangle 23"/>
            <p:cNvSpPr/>
            <p:nvPr/>
          </p:nvSpPr>
          <p:spPr>
            <a:xfrm>
              <a:off x="7696200" y="1295400"/>
              <a:ext cx="38862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919466" y="15249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85404" y="1508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未知边界推断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44100" y="1466850"/>
              <a:ext cx="819150" cy="2286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72942" y="15301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新能源推断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19847" y="1856899"/>
              <a:ext cx="150342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分散式风电、分布式光伏、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非市场化机组、水电出力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505200" y="2781300"/>
            <a:ext cx="4038600" cy="1333500"/>
            <a:chOff x="3505200" y="2781300"/>
            <a:chExt cx="40386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3505200" y="2781300"/>
              <a:ext cx="40386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728466" y="3010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4404" y="2994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未知边界测算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38900" y="2952750"/>
              <a:ext cx="933450" cy="2286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69697" y="30160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系统边界解算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28847" y="3342799"/>
              <a:ext cx="137896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省间及区域联络线计划、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预测开机组合精确测算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96200" y="2781300"/>
            <a:ext cx="3886200" cy="1333500"/>
            <a:chOff x="7696200" y="2781300"/>
            <a:chExt cx="3886200" cy="1333500"/>
          </a:xfrm>
        </p:grpSpPr>
        <p:sp>
          <p:nvSpPr>
            <p:cNvPr id="37" name="Rectangle 37"/>
            <p:cNvSpPr/>
            <p:nvPr/>
          </p:nvSpPr>
          <p:spPr>
            <a:xfrm>
              <a:off x="7696200" y="2781300"/>
              <a:ext cx="38862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19466" y="3010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5404" y="29946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火电空间计算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906000" y="2952750"/>
              <a:ext cx="933450" cy="2286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036797" y="30160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平衡空间测算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19847" y="3342799"/>
              <a:ext cx="137896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火电竞价空间平衡及全网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火电负荷率计算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505200" y="4267200"/>
            <a:ext cx="4038600" cy="1333500"/>
            <a:chOff x="3505200" y="4267200"/>
            <a:chExt cx="4038600" cy="1333500"/>
          </a:xfrm>
        </p:grpSpPr>
        <p:sp>
          <p:nvSpPr>
            <p:cNvPr id="44" name="Rectangle 44"/>
            <p:cNvSpPr/>
            <p:nvPr/>
          </p:nvSpPr>
          <p:spPr>
            <a:xfrm>
              <a:off x="3505200" y="4267200"/>
              <a:ext cx="40386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28466" y="4496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994404" y="4480560"/>
              <a:ext cx="10064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24时电价预测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324600" y="4438650"/>
              <a:ext cx="1047750" cy="2286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4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12547" y="45019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概率期望建模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28847" y="4828699"/>
              <a:ext cx="1515872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24时段电价曲线（相似日）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区间概率统计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96200" y="4267200"/>
            <a:ext cx="3886200" cy="1333500"/>
            <a:chOff x="7696200" y="4267200"/>
            <a:chExt cx="3886200" cy="1333500"/>
          </a:xfrm>
        </p:grpSpPr>
        <p:sp>
          <p:nvSpPr>
            <p:cNvPr id="51" name="Rectangle 51"/>
            <p:cNvSpPr/>
            <p:nvPr/>
          </p:nvSpPr>
          <p:spPr>
            <a:xfrm>
              <a:off x="7696200" y="4267200"/>
              <a:ext cx="3886200" cy="1333500"/>
            </a:xfrm>
            <a:prstGeom prst="roundRect">
              <a:avLst>
                <a:gd name="adj" fmla="val 7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19466" y="44967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85404" y="44805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推断输出与建议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06000" y="4438650"/>
              <a:ext cx="1047750" cy="2286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4000"/>
              </a:scheme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93947" y="450199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智能决策输出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19847" y="4828699"/>
              <a:ext cx="1254506" cy="381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输出全链条逻辑依据，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生成交易策略意见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09600" y="5753100"/>
            <a:ext cx="10972800" cy="495300"/>
            <a:chOff x="609600" y="5753100"/>
            <a:chExt cx="10972800" cy="495300"/>
          </a:xfrm>
        </p:grpSpPr>
        <p:sp>
          <p:nvSpPr>
            <p:cNvPr id="58" name="Rectangle 58"/>
            <p:cNvSpPr/>
            <p:nvPr/>
          </p:nvSpPr>
          <p:spPr>
            <a:xfrm>
              <a:off x="609600" y="5753100"/>
              <a:ext cx="10972800" cy="495300"/>
            </a:xfrm>
            <a:prstGeom prst="roundRect">
              <a:avLst>
                <a:gd name="adj" fmla="val 19231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71347" y="5952649"/>
              <a:ext cx="7162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明确不做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：交易申报、正式页面化 UI、多源自动取数、交易复盘（后续预留）　</a:t>
              </a:r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｜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第一阶段只适配辽宁省，跑通后再推广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61" name="Line 6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05802"/>
            <a:ext cx="10988802" cy="545021"/>
            <a:chOff x="598932" y="705802"/>
            <a:chExt cx="10988802" cy="545021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建设智能体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4572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2.4 智能体MVP功能介绍：五大能力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011662" y="7058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功能全景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04266" y="1334452"/>
            <a:ext cx="5947410" cy="205359"/>
            <a:chOff x="604266" y="1334452"/>
            <a:chExt cx="5947410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1334452"/>
              <a:ext cx="5947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围绕交易员的完整工作流设计：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数据进得来、边界看得清、算得可追溯、人能改、助手在身边。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1714500"/>
            <a:ext cx="2066925" cy="2552700"/>
            <a:chOff x="609600" y="1714500"/>
            <a:chExt cx="2066925" cy="2552700"/>
          </a:xfrm>
        </p:grpSpPr>
        <p:sp>
          <p:nvSpPr>
            <p:cNvPr id="8" name="Rectangle 8"/>
            <p:cNvSpPr/>
            <p:nvPr/>
          </p:nvSpPr>
          <p:spPr>
            <a:xfrm>
              <a:off x="609600" y="1714500"/>
              <a:ext cx="2066925" cy="2552700"/>
            </a:xfrm>
            <a:prstGeom prst="roundRect">
              <a:avLst>
                <a:gd name="adj" fmla="val 46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866" y="1944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38250" y="1885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44130" y="1949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灵活化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2270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数据导入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3438" y="2607945"/>
              <a:ext cx="1381125" cy="8620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归集交易中心、滚撮软件、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辅助决策系统等多源边界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数据，下载后直接导入，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15-20 分钟数据整理时间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压缩到分钟级。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828925" y="1714500"/>
            <a:ext cx="2066925" cy="2552700"/>
            <a:chOff x="2828925" y="1714500"/>
            <a:chExt cx="2066925" cy="2552700"/>
          </a:xfrm>
        </p:grpSpPr>
        <p:sp>
          <p:nvSpPr>
            <p:cNvPr id="15" name="Rectangle 15"/>
            <p:cNvSpPr/>
            <p:nvPr/>
          </p:nvSpPr>
          <p:spPr>
            <a:xfrm>
              <a:off x="2828925" y="1714500"/>
              <a:ext cx="2066925" cy="2552700"/>
            </a:xfrm>
            <a:prstGeom prst="roundRect">
              <a:avLst>
                <a:gd name="adj" fmla="val 46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052191" y="1944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457575" y="1885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563455" y="1949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可视化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51429" y="2270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边界展示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52762" y="2607945"/>
              <a:ext cx="13811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联络线、火电开机、新能源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出力等边界信息一屏可视，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供需形势一目了然。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48250" y="1714500"/>
            <a:ext cx="2066925" cy="2552700"/>
            <a:chOff x="5048250" y="1714500"/>
            <a:chExt cx="2066925" cy="2552700"/>
          </a:xfrm>
        </p:grpSpPr>
        <p:sp>
          <p:nvSpPr>
            <p:cNvPr id="22" name="Rectangle 22"/>
            <p:cNvSpPr/>
            <p:nvPr/>
          </p:nvSpPr>
          <p:spPr>
            <a:xfrm>
              <a:off x="5048250" y="1714500"/>
              <a:ext cx="2066925" cy="2552700"/>
            </a:xfrm>
            <a:prstGeom prst="roundRect">
              <a:avLst>
                <a:gd name="adj" fmla="val 46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71516" y="1944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76900" y="1885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82780" y="1949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流程化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0754" y="2270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计算逻辑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2088" y="2607945"/>
              <a:ext cx="130111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边界推断 → 负荷率 → 电价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预测固化为标准计算链，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结果可追溯、可复现。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67575" y="1714500"/>
            <a:ext cx="2066925" cy="2552700"/>
            <a:chOff x="7267575" y="1714500"/>
            <a:chExt cx="2066925" cy="2552700"/>
          </a:xfrm>
        </p:grpSpPr>
        <p:sp>
          <p:nvSpPr>
            <p:cNvPr id="29" name="Rectangle 29"/>
            <p:cNvSpPr/>
            <p:nvPr/>
          </p:nvSpPr>
          <p:spPr>
            <a:xfrm>
              <a:off x="7267575" y="1714500"/>
              <a:ext cx="2066925" cy="2552700"/>
            </a:xfrm>
            <a:prstGeom prst="roundRect">
              <a:avLst>
                <a:gd name="adj" fmla="val 46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90841" y="1944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96225" y="1885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alpha val="14000"/>
              </a:scheme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02105" y="1949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>可重算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0079" y="2270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人工交互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1412" y="2607945"/>
              <a:ext cx="13811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交易员在线修改边界预期，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系统即时重新测算——</a:t>
              </a:r>
              <a:br/>
              <a:r>
                <a:rPr lang="zh-CN" sz="9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人机协同，而非替代。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86900" y="1714500"/>
            <a:ext cx="2066925" cy="2552700"/>
            <a:chOff x="9486900" y="1714500"/>
            <a:chExt cx="2066925" cy="2552700"/>
          </a:xfrm>
        </p:grpSpPr>
        <p:sp>
          <p:nvSpPr>
            <p:cNvPr id="36" name="Rectangle 36"/>
            <p:cNvSpPr/>
            <p:nvPr/>
          </p:nvSpPr>
          <p:spPr>
            <a:xfrm>
              <a:off x="9486900" y="1714500"/>
              <a:ext cx="2066925" cy="2552700"/>
            </a:xfrm>
            <a:prstGeom prst="roundRect">
              <a:avLst>
                <a:gd name="adj" fmla="val 46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710166" y="1944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0115550" y="1885950"/>
              <a:ext cx="552450" cy="22860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14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21430" y="1949291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陪交易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709404" y="2270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智能助手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10738" y="2607945"/>
              <a:ext cx="1381125" cy="5191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政策解读、风险提示、经验</a:t>
              </a:r>
              <a:br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问答，把老交易员的经验</a:t>
              </a:r>
              <a:br/>
              <a:r>
                <a:rPr lang="zh-CN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变成随身顾问。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9600" y="4457700"/>
            <a:ext cx="10972800" cy="647700"/>
            <a:chOff x="609600" y="4457700"/>
            <a:chExt cx="10972800" cy="647700"/>
          </a:xfrm>
        </p:grpSpPr>
        <p:sp>
          <p:nvSpPr>
            <p:cNvPr id="43" name="Rectangle 43"/>
            <p:cNvSpPr/>
            <p:nvPr/>
          </p:nvSpPr>
          <p:spPr>
            <a:xfrm>
              <a:off x="609600" y="4457700"/>
              <a:ext cx="10972800" cy="647700"/>
            </a:xfrm>
            <a:prstGeom prst="roundRect">
              <a:avLst>
                <a:gd name="adj" fmla="val 14706"/>
              </a:avLst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0585" y="4736306"/>
              <a:ext cx="55614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交易员每日数据收集、计算、复盘工作时长由</a:t>
              </a:r>
              <a:r>
                <a:rPr lang="zh-CN" sz="1500" b="1" dirty="0">
                  <a:solidFill>
                    <a:srgbClr val="B45309"/>
                  </a:solidFill>
                  <a:latin typeface="+mn-lt"/>
                  <a:ea typeface="+mn-ea"/>
                  <a:cs typeface="+mn-cs"/>
                </a:rPr>
                <a:t xml:space="preserve"> 50-80分钟 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，缩减为</a:t>
              </a:r>
              <a:r>
                <a:rPr lang="zh-CN" sz="1500" b="1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 xml:space="preserve"> &lt;10分钟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5295900"/>
            <a:ext cx="10972800" cy="838200"/>
            <a:chOff x="609600" y="5295900"/>
            <a:chExt cx="10972800" cy="838200"/>
          </a:xfrm>
        </p:grpSpPr>
        <p:sp>
          <p:nvSpPr>
            <p:cNvPr id="46" name="Rectangle 46"/>
            <p:cNvSpPr/>
            <p:nvPr/>
          </p:nvSpPr>
          <p:spPr>
            <a:xfrm>
              <a:off x="609600" y="5295900"/>
              <a:ext cx="10972800" cy="838200"/>
            </a:xfrm>
            <a:prstGeom prst="roundRect">
              <a:avLst>
                <a:gd name="adj" fmla="val 11364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35831" y="5610225"/>
              <a:ext cx="178595" cy="202406"/>
              <a:chOff x="935831" y="5610225"/>
              <a:chExt cx="178595" cy="20240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5831" y="5610225"/>
                <a:ext cx="142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90500">
                    <a:moveTo>
                      <a:pt x="54947" y="190500"/>
                    </a:moveTo>
                    <a:lnTo>
                      <a:pt x="23812" y="190500"/>
                    </a:lnTo>
                    <a:cubicBezTo>
                      <a:pt x="10661" y="190500"/>
                      <a:pt x="0" y="179839"/>
                      <a:pt x="0" y="166688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119062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42988" y="576500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83456" y="5657850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0" y="0"/>
                    </a:moveTo>
                    <a:lnTo>
                      <a:pt x="47625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83456" y="57054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chemeClr val="accent2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328166" y="55064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五项能力对应痛点逐项拆解：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28166" y="5792152"/>
              <a:ext cx="5912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取数慢 → 自动化；看不清 → 可视化；算得乱 → 流程化；不敢信 → 可重算；经验散 → 智能助手。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55" name="Line 55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05802"/>
            <a:ext cx="10988802" cy="545021"/>
            <a:chOff x="598932" y="705802"/>
            <a:chExt cx="10988802" cy="545021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总结与计划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22963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3.1 培训经验总结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70311" y="7058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方法论沉淀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" y="1428750"/>
            <a:ext cx="3970020" cy="836295"/>
            <a:chOff x="609600" y="1428750"/>
            <a:chExt cx="3970020" cy="836295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4880" y="1666875"/>
              <a:ext cx="3634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这次培训最大的收获不是做出了系统，</a:t>
              </a:r>
              <a:br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而是验证了一套可复用的智能体落地方法。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9600" y="2724150"/>
            <a:ext cx="3552825" cy="3200400"/>
            <a:chOff x="609600" y="2724150"/>
            <a:chExt cx="3552825" cy="3200400"/>
          </a:xfrm>
        </p:grpSpPr>
        <p:sp>
          <p:nvSpPr>
            <p:cNvPr id="9" name="Rectangle 9"/>
            <p:cNvSpPr/>
            <p:nvPr/>
          </p:nvSpPr>
          <p:spPr>
            <a:xfrm>
              <a:off x="609600" y="2724150"/>
              <a:ext cx="3552825" cy="3200400"/>
            </a:xfrm>
            <a:prstGeom prst="roundRect">
              <a:avLst>
                <a:gd name="adj" fmla="val 29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46" y="294417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347662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PRD 先行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585" y="3821906"/>
              <a:ext cx="1007110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方法论，</a:t>
              </a:r>
              <a:br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比代码更先跑通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876300" y="44005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966" y="4592002"/>
              <a:ext cx="1950910" cy="891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先把业务场景写成"可追溯计算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链"，明确人机分工与红线，再谈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开发——文档共识先于代码，避免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边写边返工。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14825" y="2724150"/>
            <a:ext cx="3552825" cy="3200400"/>
            <a:chOff x="4314825" y="2724150"/>
            <a:chExt cx="3552825" cy="3200400"/>
          </a:xfrm>
        </p:grpSpPr>
        <p:sp>
          <p:nvSpPr>
            <p:cNvPr id="16" name="Rectangle 16"/>
            <p:cNvSpPr/>
            <p:nvPr/>
          </p:nvSpPr>
          <p:spPr>
            <a:xfrm>
              <a:off x="4314825" y="2724150"/>
              <a:ext cx="3552825" cy="3200400"/>
            </a:xfrm>
            <a:prstGeom prst="roundRect">
              <a:avLst>
                <a:gd name="adj" fmla="val 29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8571" y="294417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3905" y="3476625"/>
              <a:ext cx="900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MVP 取舍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581525" y="39433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76191" y="4172902"/>
              <a:ext cx="2084260" cy="891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只保留验证路线必需的 UC1–UC9，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先证明"数据能进来、链路能闭环、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结果能解释"，拒绝一步到位的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大而全。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20050" y="2724150"/>
            <a:ext cx="3552825" cy="3200400"/>
            <a:chOff x="8020050" y="2724150"/>
            <a:chExt cx="3552825" cy="3200400"/>
          </a:xfrm>
        </p:grpSpPr>
        <p:sp>
          <p:nvSpPr>
            <p:cNvPr id="22" name="Rectangle 22"/>
            <p:cNvSpPr/>
            <p:nvPr/>
          </p:nvSpPr>
          <p:spPr>
            <a:xfrm>
              <a:off x="8020050" y="2724150"/>
              <a:ext cx="3552825" cy="3200400"/>
            </a:xfrm>
            <a:prstGeom prst="roundRect">
              <a:avLst>
                <a:gd name="adj" fmla="val 29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3796" y="294417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9130" y="3476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业务开发协同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286750" y="39433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81416" y="4172902"/>
              <a:ext cx="2410968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交易员深度参与边界定义与结果校验，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开发贴着业务节奏走；先跑通辽宁一省，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再谈其他省份推广。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86750" y="5200650"/>
              <a:ext cx="3019425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02651" y="5343049"/>
              <a:ext cx="2178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三个关键词：PRD · MVP · 业务开发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30" name="Line 3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8932" y="705802"/>
            <a:ext cx="10988802" cy="545021"/>
            <a:chOff x="598932" y="705802"/>
            <a:chExt cx="10988802" cy="545021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721995"/>
              <a:ext cx="9251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总结与计划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840105"/>
              <a:ext cx="25790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3.2 下一步阶段计划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28960" y="7058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从可用到好用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4266" y="1372552"/>
            <a:ext cx="4727791" cy="453009"/>
            <a:chOff x="604266" y="1372552"/>
            <a:chExt cx="4727791" cy="45300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1372552"/>
              <a:ext cx="4727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MVP 已验证链路闭环，下一步围绕"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数据、复盘、助手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"三条线把系统做厚。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4266" y="16202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三个阶段，各有明确交付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981200"/>
            <a:ext cx="3552825" cy="3771900"/>
            <a:chOff x="609600" y="1981200"/>
            <a:chExt cx="3552825" cy="3771900"/>
          </a:xfrm>
        </p:grpSpPr>
        <p:sp>
          <p:nvSpPr>
            <p:cNvPr id="9" name="Rectangle 9"/>
            <p:cNvSpPr/>
            <p:nvPr/>
          </p:nvSpPr>
          <p:spPr>
            <a:xfrm>
              <a:off x="609600" y="1981200"/>
              <a:ext cx="3552825" cy="3771900"/>
            </a:xfrm>
            <a:prstGeom prst="roundRect">
              <a:avLst>
                <a:gd name="adj" fmla="val 2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46" y="22012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857500" y="22288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86271" y="2303145"/>
              <a:ext cx="6092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9.15-9.25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061" y="27417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数据自动获取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76300" y="31051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0966" y="3315652"/>
              <a:ext cx="1704213" cy="91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对接辅助交易决策平台 API，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边界数据从"人工搬运"升级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为"接口直取"。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14825" y="1981200"/>
            <a:ext cx="3552825" cy="3771900"/>
            <a:chOff x="4314825" y="1981200"/>
            <a:chExt cx="3552825" cy="3771900"/>
          </a:xfrm>
        </p:grpSpPr>
        <p:sp>
          <p:nvSpPr>
            <p:cNvPr id="17" name="Rectangle 17"/>
            <p:cNvSpPr/>
            <p:nvPr/>
          </p:nvSpPr>
          <p:spPr>
            <a:xfrm>
              <a:off x="4314825" y="1981200"/>
              <a:ext cx="3552825" cy="3771900"/>
            </a:xfrm>
            <a:prstGeom prst="roundRect">
              <a:avLst>
                <a:gd name="adj" fmla="val 26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68571" y="22012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562725" y="22288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58178" y="2303145"/>
              <a:ext cx="6758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9.26-10.20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74286" y="27417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交易复盘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581525" y="31051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76191" y="3315652"/>
              <a:ext cx="2144268" cy="91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电价预测准确率跟踪、偏差分析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（量化各边界对预测的影响权重）、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收益复盘——让每天的交易可度量。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20050" y="1981200"/>
            <a:ext cx="3552825" cy="3771900"/>
            <a:chOff x="8020050" y="1981200"/>
            <a:chExt cx="3552825" cy="3771900"/>
          </a:xfrm>
        </p:grpSpPr>
        <p:sp>
          <p:nvSpPr>
            <p:cNvPr id="25" name="Rectangle 25"/>
            <p:cNvSpPr/>
            <p:nvPr/>
          </p:nvSpPr>
          <p:spPr>
            <a:xfrm>
              <a:off x="8020050" y="1981200"/>
              <a:ext cx="3552825" cy="3771900"/>
            </a:xfrm>
            <a:prstGeom prst="roundRect">
              <a:avLst>
                <a:gd name="adj" fmla="val 26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3796" y="22012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267950" y="2228850"/>
              <a:ext cx="1066800" cy="24765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14000"/>
              </a:scheme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30085" y="2303145"/>
              <a:ext cx="7425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AE0F7"/>
                  </a:solidFill>
                  <a:latin typeface="+mn-lt"/>
                  <a:ea typeface="+mn-ea"/>
                  <a:cs typeface="+mn-cs"/>
                </a:rPr>
                <a:t>10.21-11.10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79511" y="27417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智能助手优化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8286750" y="31051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81416" y="3315652"/>
              <a:ext cx="2277618" cy="910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b="1" dirty="0">
                  <a:solidFill>
                    <a:srgbClr val="7DD3FC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  <a:p>
              <a:pPr algn="l">
                <a:lnSpc>
                  <a:spcPts val="1800"/>
                </a:lnSpc>
                <a:spcBef>
                  <a:spcPts val="150"/>
                </a:spcBef>
              </a:pPr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政策解读、历史交易记录检索；沉淀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交易经验库：交易员的边界修改全部</a:t>
              </a:r>
              <a:br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留痕并附说明，经验不再只留在脑中。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286750" y="4629150"/>
              <a:ext cx="3019425" cy="9525"/>
            </a:xfrm>
            <a:custGeom>
              <a:avLst/>
              <a:gdLst/>
              <a:ahLst/>
              <a:cxnLst/>
              <a:rect l="l" t="t" r="r" b="b"/>
              <a:pathLst>
                <a:path w="3019425" h="9525">
                  <a:moveTo>
                    <a:pt x="0" y="0"/>
                  </a:moveTo>
                  <a:lnTo>
                    <a:pt x="3019425" y="0"/>
                  </a:lnTo>
                </a:path>
              </a:pathLst>
            </a:custGeom>
            <a:noFill/>
            <a:ln w="9525">
              <a:solidFill>
                <a:srgbClr val="FFFFFF">
                  <a:alpha val="2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81035" y="4831556"/>
              <a:ext cx="1822501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目标：从"能算"到"算得准、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说得清、越用越聪明"。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44691" y="6000750"/>
            <a:ext cx="2687459" cy="218789"/>
            <a:chOff x="644691" y="6000750"/>
            <a:chExt cx="2687459" cy="218789"/>
          </a:xfrm>
        </p:grpSpPr>
        <p:grpSp>
          <p:nvGrpSpPr>
            <p:cNvPr id="38" name="Group 38"/>
            <p:cNvGrpSpPr/>
            <p:nvPr/>
          </p:nvGrpSpPr>
          <p:grpSpPr>
            <a:xfrm>
              <a:off x="644691" y="6000750"/>
              <a:ext cx="155409" cy="155409"/>
              <a:chOff x="644691" y="6000750"/>
              <a:chExt cx="155409" cy="155409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7700" y="60007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85725"/>
                    </a:moveTo>
                    <a:cubicBezTo>
                      <a:pt x="34959" y="89880"/>
                      <a:pt x="62520" y="117441"/>
                      <a:pt x="66675" y="152400"/>
                    </a:cubicBezTo>
                    <a:cubicBezTo>
                      <a:pt x="83792" y="142532"/>
                      <a:pt x="94598" y="124522"/>
                      <a:pt x="95250" y="104775"/>
                    </a:cubicBezTo>
                    <a:cubicBezTo>
                      <a:pt x="127957" y="93269"/>
                      <a:pt x="150512" y="63195"/>
                      <a:pt x="152400" y="28575"/>
                    </a:cubicBezTo>
                    <a:cubicBezTo>
                      <a:pt x="152400" y="12793"/>
                      <a:pt x="139607" y="0"/>
                      <a:pt x="123825" y="0"/>
                    </a:cubicBezTo>
                    <a:cubicBezTo>
                      <a:pt x="89205" y="1888"/>
                      <a:pt x="59131" y="24443"/>
                      <a:pt x="47625" y="57150"/>
                    </a:cubicBezTo>
                    <a:cubicBezTo>
                      <a:pt x="27878" y="57802"/>
                      <a:pt x="9868" y="68608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4691" y="6096000"/>
                <a:ext cx="60159" cy="60159"/>
              </a:xfrm>
              <a:custGeom>
                <a:avLst/>
                <a:gdLst/>
                <a:ahLst/>
                <a:cxnLst/>
                <a:rect l="l" t="t" r="r" b="b"/>
                <a:pathLst>
                  <a:path w="60159" h="60159">
                    <a:moveTo>
                      <a:pt x="31584" y="0"/>
                    </a:moveTo>
                    <a:cubicBezTo>
                      <a:pt x="11304" y="11449"/>
                      <a:pt x="0" y="34057"/>
                      <a:pt x="3009" y="57150"/>
                    </a:cubicBezTo>
                    <a:cubicBezTo>
                      <a:pt x="26101" y="60159"/>
                      <a:pt x="48710" y="48854"/>
                      <a:pt x="60159" y="2857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42950" y="6038850"/>
                <a:ext cx="190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19050">
                    <a:moveTo>
                      <a:pt x="0" y="9525"/>
                    </a:moveTo>
                    <a:cubicBezTo>
                      <a:pt x="0" y="14786"/>
                      <a:pt x="4264" y="19050"/>
                      <a:pt x="9525" y="19050"/>
                    </a:cubicBezTo>
                    <a:cubicBezTo>
                      <a:pt x="14786" y="19050"/>
                      <a:pt x="19050" y="14786"/>
                      <a:pt x="19050" y="9525"/>
                    </a:cubicBezTo>
                    <a:cubicBezTo>
                      <a:pt x="19050" y="4264"/>
                      <a:pt x="14786" y="0"/>
                      <a:pt x="9525" y="0"/>
                    </a:cubicBezTo>
                    <a:cubicBezTo>
                      <a:pt x="4264" y="0"/>
                      <a:pt x="0" y="4264"/>
                      <a:pt x="0" y="9525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47547" y="6028849"/>
              <a:ext cx="23846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每周五小组会议，同步建设过程和意见。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04838" y="6400800"/>
            <a:ext cx="10982325" cy="288607"/>
            <a:chOff x="604838" y="6400800"/>
            <a:chExt cx="10982325" cy="288607"/>
          </a:xfrm>
        </p:grpSpPr>
        <p:sp>
          <p:nvSpPr>
            <p:cNvPr id="41" name="Line 4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838" y="651319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444364" y="651319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0" y="914400"/>
            <a:ext cx="1714500" cy="1714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1809750" y="2495550"/>
            <a:ext cx="4491228" cy="822579"/>
            <a:chOff x="1809750" y="2495550"/>
            <a:chExt cx="4491228" cy="822579"/>
          </a:xfrm>
        </p:grpSpPr>
        <p:sp>
          <p:nvSpPr>
            <p:cNvPr id="4" name="Rectangle 4"/>
            <p:cNvSpPr/>
            <p:nvPr/>
          </p:nvSpPr>
          <p:spPr>
            <a:xfrm>
              <a:off x="1809750" y="2495550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269236" y="2672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感谢您的聆听与指导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78380" y="3819525"/>
            <a:ext cx="3044190" cy="293370"/>
            <a:chOff x="2278380" y="3819525"/>
            <a:chExt cx="30441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2278380" y="38195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电力滚撮交易智能体建设方案汇报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429000" y="4476750"/>
            <a:ext cx="5334000" cy="1085850"/>
            <a:chOff x="3429000" y="4476750"/>
            <a:chExt cx="5334000" cy="108585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29000" y="4476750"/>
              <a:ext cx="5334000" cy="108585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04838" y="6191250"/>
            <a:ext cx="10982325" cy="326707"/>
            <a:chOff x="604838" y="6191250"/>
            <a:chExt cx="10982325" cy="326707"/>
          </a:xfrm>
        </p:grpSpPr>
        <p:sp>
          <p:nvSpPr>
            <p:cNvPr id="11" name="Line 1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4838" y="6341745"/>
              <a:ext cx="153005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以建代训-第四组 · 2026.09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84410" y="6341745"/>
              <a:ext cx="16027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+mn-lt"/>
                  <a:ea typeface="+mn-ea"/>
                  <a:cs typeface="+mn-cs"/>
                </a:rPr>
                <a:t>日滚动交易智能体 · 结业汇报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oll-agent-training-beautify">
  <a:themeElements>
    <a:clrScheme name="roll-agent-training-beautify">
      <a:dk1>
        <a:srgbClr val="334155"/>
      </a:dk1>
      <a:lt1>
        <a:srgbClr val="FFFFFF"/>
      </a:lt1>
      <a:dk2>
        <a:srgbClr val="1F497D"/>
      </a:dk2>
      <a:lt2>
        <a:srgbClr val="F1F5F9"/>
      </a:lt2>
      <a:accent1>
        <a:srgbClr val="1E3A8A"/>
      </a:accent1>
      <a:accent2>
        <a:srgbClr val="0EA5E9"/>
      </a:accent2>
      <a:accent3>
        <a:srgbClr val="F59E0B"/>
      </a:accent3>
      <a:accent4>
        <a:srgbClr val="1E3A8A"/>
      </a:accent4>
      <a:accent5>
        <a:srgbClr val="64748B"/>
      </a:accent5>
      <a:accent6>
        <a:srgbClr val="E2E8F0"/>
      </a:accent6>
      <a:hlink>
        <a:srgbClr val="0EA5E9"/>
      </a:hlink>
      <a:folHlink>
        <a:srgbClr val="F59E0B"/>
      </a:folHlink>
    </a:clrScheme>
    <a:fontScheme name="roll-agent-training-beautify">
      <a:majorFont>
        <a:latin typeface="思源黑体"/>
        <a:ea typeface="Microsoft YaHei"/>
        <a:cs typeface="思源黑体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"/>
        <a:ea typeface="Microsoft YaHei"/>
        <a:cs typeface="思源黑体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ll-agent-training-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2026-09-11T09:18:21Z</dcterms:created>
  <dcterms:modified xsi:type="dcterms:W3CDTF">2026-09-11T09:18:21Z</dcterms:modified>
  <cp:category/>
  <cp:contentStatus/>
</cp:coreProperties>
</file>